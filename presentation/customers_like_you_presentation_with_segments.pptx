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 and explain that results are from the current local notebook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workbook sheets were combined. Duplicate rows were identified in profiling but not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matrix is based on training data. Eligible held-out products must be in the training catalogue and not previously purchased by that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PCA explained variance and SVD's energy-based reconstruction error are not directly equivalent quality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estimated relative reconstruction error falls from about 0.877 at 10 components to about 0.641 at 200.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historical offline evidence, not proof of business lift.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Segment 4 contains only 12 customers and should not be generalized.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SVD showed a higher historical Hit Rate@10 than baseline, but commercial value remains unproven.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A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80" y="685800"/>
            <a:ext cx="1965960" cy="1965960"/>
          </a:xfrm>
          <a:prstGeom prst="ellipse">
            <a:avLst/>
          </a:prstGeom>
          <a:solidFill>
            <a:srgbClr val="36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1965960"/>
            <a:ext cx="1417320" cy="1417320"/>
          </a:xfrm>
          <a:prstGeom prst="ellipse">
            <a:avLst/>
          </a:prstGeom>
          <a:solidFill>
            <a:srgbClr val="2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01000" y="3246120"/>
            <a:ext cx="2468880" cy="2468880"/>
          </a:xfrm>
          <a:prstGeom prst="ellipse">
            <a:avLst/>
          </a:prstGeom>
          <a:solidFill>
            <a:srgbClr val="254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7132320" cy="169164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CUSTOMERS</a:t>
            </a:r>
          </a:p>
          <a:p>
            <a:pPr algn="l">
              <a:spcAft>
                <a:spcPts val="4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LIKE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6858000" cy="5943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D2DFF0"/>
                </a:solidFill>
                <a:latin typeface="Aptos"/>
              </a:defRPr>
            </a:pPr>
            <a:r>
              <a:t>Product recommendations &amp; customer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6858000" cy="4114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6C7DE"/>
                </a:solidFill>
                <a:latin typeface="Aptos"/>
              </a:defRPr>
            </a:pPr>
            <a:r>
              <a:t>UCI Online Retail II  |  Truncated SVD with PCA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80760"/>
            <a:ext cx="6766560" cy="2743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B6C7DE"/>
                </a:solidFill>
                <a:latin typeface="Aptos"/>
              </a:defRPr>
            </a:pPr>
            <a:r>
              <a:t>Project results from the local notebook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92A46"/>
                </a:solidFill>
                <a:latin typeface="Aptos"/>
              </a:defRPr>
            </a:pPr>
            <a:r>
              <a:t>01  |  Problem &amp;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5F6C7D"/>
                </a:solidFill>
                <a:latin typeface="Aptos"/>
              </a:defRPr>
            </a:pPr>
            <a:r>
              <a:t>Two business questions, one transaction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07592"/>
            <a:ext cx="658368" cy="50292"/>
          </a:xfrm>
          <a:prstGeom prst="rect">
            <a:avLst/>
          </a:prstGeom>
          <a:solidFill>
            <a:srgbClr val="2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64592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F6C7D"/>
                </a:solidFill>
                <a:latin typeface="Aptos"/>
              </a:defRPr>
            </a:pPr>
            <a:r>
              <a:t>CUSTOMERS LIKE YOU  • 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25780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8580" cy="1371600"/>
          </a:xfrm>
          <a:prstGeom prst="rect">
            <a:avLst/>
          </a:prstGeom>
          <a:solidFill>
            <a:srgbClr val="2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64792"/>
            <a:ext cx="4892040" cy="292608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92A46"/>
                </a:solidFill>
                <a:latin typeface="Aptos"/>
              </a:defRPr>
            </a:pPr>
            <a:r>
              <a:t>PRODUCT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30552"/>
            <a:ext cx="4892040" cy="813816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32C38"/>
                </a:solidFill>
                <a:latin typeface="Aptos"/>
              </a:defRPr>
            </a:pPr>
            <a:r>
              <a:t>Can purchase patterns suggest products beyond a global best-seller list?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5780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68580" cy="1371600"/>
          </a:xfrm>
          <a:prstGeom prst="rect">
            <a:avLst/>
          </a:prstGeom>
          <a:solidFill>
            <a:srgbClr val="36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764792"/>
            <a:ext cx="4892040" cy="292608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92A46"/>
                </a:solidFill>
                <a:latin typeface="Aptos"/>
              </a:defRPr>
            </a:pPr>
            <a:r>
              <a:t>CUSTOMER GROUPS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30552"/>
            <a:ext cx="4892040" cy="813816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32C38"/>
                </a:solidFill>
                <a:latin typeface="Aptos"/>
              </a:defRPr>
            </a:pPr>
            <a:r>
              <a:t>Can similar purchase patterns reveal useful groups for merchandising?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3429000" cy="1143000"/>
          </a:xfrm>
          <a:prstGeom prst="round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13048"/>
            <a:ext cx="3154680" cy="4114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192A46"/>
                </a:solidFill>
                <a:latin typeface="Aptos"/>
              </a:defRPr>
            </a:pPr>
            <a:r>
              <a:t>1,067,371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15968"/>
            <a:ext cx="3154680" cy="2743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F6C7D"/>
                </a:solidFill>
                <a:latin typeface="Aptos"/>
              </a:defRPr>
            </a:pPr>
            <a:r>
              <a:t>raw transaction rows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657600"/>
            <a:ext cx="3429000" cy="1143000"/>
          </a:xfrm>
          <a:prstGeom prst="roundRect">
            <a:avLst/>
          </a:prstGeom>
          <a:solidFill>
            <a:srgbClr val="E0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813048"/>
            <a:ext cx="3154680" cy="4114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192A46"/>
                </a:solidFill>
                <a:latin typeface="Aptos"/>
              </a:defRPr>
            </a:pPr>
            <a:r>
              <a:t>802,965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315968"/>
            <a:ext cx="3154680" cy="2743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F6C7D"/>
                </a:solidFill>
                <a:latin typeface="Aptos"/>
              </a:defRPr>
            </a:pPr>
            <a:r>
              <a:t>rows after cleaning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3657600"/>
            <a:ext cx="3429000" cy="1143000"/>
          </a:xfrm>
          <a:prstGeom prst="roundRect">
            <a:avLst/>
          </a:prstGeom>
          <a:solidFill>
            <a:srgbClr val="E2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3813048"/>
            <a:ext cx="3154680" cy="4114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192A46"/>
                </a:solidFill>
                <a:latin typeface="Aptos"/>
              </a:defRPr>
            </a:pPr>
            <a:r>
              <a:t>2 sheets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315968"/>
            <a:ext cx="3154680" cy="2743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F6C7D"/>
                </a:solidFill>
                <a:latin typeface="Aptos"/>
              </a:defRPr>
            </a:pPr>
            <a:r>
              <a:t>2009–10 and 2010–11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10607040" cy="6400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F6C7D"/>
                </a:solidFill>
                <a:latin typeface="Aptos"/>
              </a:defRPr>
            </a:pPr>
            <a:r>
              <a:t>Cleaning removed cancellations, invalid quantities/prices, missing customer IDs, specified non-product codes, and invalid dates. Duplicate rows were identified but not removed.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92A46"/>
                </a:solidFill>
                <a:latin typeface="Aptos"/>
              </a:defRPr>
            </a:pPr>
            <a:r>
              <a:t>02  |  From transactions to a sparse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5F6C7D"/>
                </a:solidFill>
                <a:latin typeface="Aptos"/>
              </a:defRPr>
            </a:pPr>
            <a:r>
              <a:t>Chronological holdout tests recommendations on later purchases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07592"/>
            <a:ext cx="658368" cy="50292"/>
          </a:xfrm>
          <a:prstGeom prst="rect">
            <a:avLst/>
          </a:prstGeom>
          <a:solidFill>
            <a:srgbClr val="2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64592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F6C7D"/>
                </a:solidFill>
                <a:latin typeface="Aptos"/>
              </a:defRPr>
            </a:pPr>
            <a:r>
              <a:t>CUSTOMERS LIKE YOU  •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33756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68580" cy="1234440"/>
          </a:xfrm>
          <a:prstGeom prst="rect">
            <a:avLst/>
          </a:prstGeom>
          <a:solidFill>
            <a:srgbClr val="36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64792"/>
            <a:ext cx="2971800" cy="292608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92A46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30552"/>
            <a:ext cx="2971800" cy="676656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32C38"/>
                </a:solidFill>
                <a:latin typeface="Aptos"/>
              </a:defRPr>
            </a:pPr>
            <a:r>
              <a:t>684,357 rows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32C38"/>
                </a:solidFill>
                <a:latin typeface="Aptos"/>
              </a:defRPr>
            </a:pPr>
            <a:r>
              <a:t>Through 9 Oct 2011, 12:49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33756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68580" cy="1234440"/>
          </a:xfrm>
          <a:prstGeom prst="rect">
            <a:avLst/>
          </a:prstGeom>
          <a:solidFill>
            <a:srgbClr val="2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764792"/>
            <a:ext cx="2971800" cy="292608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92A46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30552"/>
            <a:ext cx="2971800" cy="676656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32C38"/>
                </a:solidFill>
                <a:latin typeface="Aptos"/>
              </a:defRPr>
            </a:pPr>
            <a:r>
              <a:t>118,608 rows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32C38"/>
                </a:solidFill>
                <a:latin typeface="Aptos"/>
              </a:defRPr>
            </a:pPr>
            <a:r>
              <a:t>From 9 Oct 2011, 12:50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645920"/>
            <a:ext cx="333756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645920"/>
            <a:ext cx="68580" cy="1234440"/>
          </a:xfrm>
          <a:prstGeom prst="rect">
            <a:avLst/>
          </a:prstGeom>
          <a:solidFill>
            <a:srgbClr val="E6A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764792"/>
            <a:ext cx="2971800" cy="292608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92A46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130552"/>
            <a:ext cx="2971800" cy="676656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32C38"/>
                </a:solidFill>
                <a:latin typeface="Aptos"/>
              </a:defRPr>
            </a:pPr>
            <a:r>
              <a:t>1,913 eligible customers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32C38"/>
                </a:solidFill>
                <a:latin typeface="Aptos"/>
              </a:defRPr>
            </a:pPr>
            <a:r>
              <a:t>44,729 held-out pairs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46120"/>
            <a:ext cx="6400800" cy="32004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92A46"/>
                </a:solidFill>
                <a:latin typeface="Aptos"/>
              </a:defRPr>
            </a:pPr>
            <a:r>
              <a:t>TRAINING-ONLY CUSTOMER × PRODUCT MATRIX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49039"/>
            <a:ext cx="2468880" cy="45720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192A46"/>
                </a:solidFill>
                <a:latin typeface="Aptos"/>
              </a:defRPr>
            </a:pPr>
            <a:r>
              <a:t>5,484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51960"/>
            <a:ext cx="2468880" cy="2743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F6C7D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39" y="3749039"/>
            <a:ext cx="2468880" cy="45720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192A46"/>
                </a:solidFill>
                <a:latin typeface="Aptos"/>
              </a:defRPr>
            </a:pPr>
            <a:r>
              <a:t>4,537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39" y="4251960"/>
            <a:ext cx="2468880" cy="2743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F6C7D"/>
                </a:solidFill>
                <a:latin typeface="Aptos"/>
              </a:defRPr>
            </a:pPr>
            <a:r>
              <a:t>products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3749039"/>
            <a:ext cx="2468880" cy="45720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192A46"/>
                </a:solidFill>
                <a:latin typeface="Aptos"/>
              </a:defRPr>
            </a:pPr>
            <a:r>
              <a:t>417,809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4251960"/>
            <a:ext cx="2468880" cy="2743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F6C7D"/>
                </a:solidFill>
                <a:latin typeface="Aptos"/>
              </a:defRPr>
            </a:pPr>
            <a:r>
              <a:t>nonzero entries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749039"/>
            <a:ext cx="2468880" cy="45720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26918C"/>
                </a:solidFill>
                <a:latin typeface="Aptos"/>
              </a:defRPr>
            </a:pPr>
            <a:r>
              <a:t>98.32%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4251960"/>
            <a:ext cx="2468880" cy="2743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F6C7D"/>
                </a:solidFill>
                <a:latin typeface="Aptos"/>
              </a:defRPr>
            </a:pPr>
            <a:r>
              <a:t>sparsity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892040"/>
            <a:ext cx="5303520" cy="86868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892040"/>
            <a:ext cx="68580" cy="868680"/>
          </a:xfrm>
          <a:prstGeom prst="rect">
            <a:avLst/>
          </a:prstGeom>
          <a:solidFill>
            <a:srgbClr val="2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010912"/>
            <a:ext cx="4937759" cy="292608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92A46"/>
                </a:solidFill>
                <a:latin typeface="Aptos"/>
              </a:defRPr>
            </a:pPr>
            <a:r>
              <a:t>MEMORY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5376672"/>
            <a:ext cx="4937759" cy="310896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2C38"/>
                </a:solidFill>
                <a:latin typeface="Aptos"/>
              </a:defRPr>
            </a:pPr>
            <a:r>
              <a:t>Dense estimate: 189.83 MB  |  Sparse estimate: 4.88 MB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892040"/>
            <a:ext cx="5120640" cy="86868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4892040"/>
            <a:ext cx="68580" cy="868680"/>
          </a:xfrm>
          <a:prstGeom prst="rect">
            <a:avLst/>
          </a:prstGeom>
          <a:solidFill>
            <a:srgbClr val="36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5010912"/>
            <a:ext cx="4754879" cy="292608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92A46"/>
                </a:solidFill>
                <a:latin typeface="Aptos"/>
              </a:defRPr>
            </a:pPr>
            <a:r>
              <a:t>LEAKAGE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5376672"/>
            <a:ext cx="4754879" cy="310896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2C38"/>
                </a:solidFill>
                <a:latin typeface="Aptos"/>
              </a:defRPr>
            </a:pPr>
            <a:r>
              <a:t>Product filtering and matrix fitting use training data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92A46"/>
                </a:solidFill>
                <a:latin typeface="Aptos"/>
              </a:defRPr>
            </a:pPr>
            <a:r>
              <a:t>03  |  Why Truncated SVD?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5F6C7D"/>
                </a:solidFill>
                <a:latin typeface="Aptos"/>
              </a:defRPr>
            </a:pPr>
            <a:r>
              <a:t>Represent sparse purchase behavior with compact latent factors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07592"/>
            <a:ext cx="658368" cy="50292"/>
          </a:xfrm>
          <a:prstGeom prst="rect">
            <a:avLst/>
          </a:prstGeom>
          <a:solidFill>
            <a:srgbClr val="2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64592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F6C7D"/>
                </a:solidFill>
                <a:latin typeface="Aptos"/>
              </a:defRPr>
            </a:pPr>
            <a:r>
              <a:t>CUSTOMERS LIKE YOU  •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8580" cy="1828800"/>
          </a:xfrm>
          <a:prstGeom prst="rect">
            <a:avLst/>
          </a:prstGeom>
          <a:solidFill>
            <a:srgbClr val="2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4754879" cy="292608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92A46"/>
                </a:solidFill>
                <a:latin typeface="Aptos"/>
              </a:defRPr>
            </a:pPr>
            <a:r>
              <a:t>TRUNCATED SVD — 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4754879" cy="1271016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32C38"/>
                </a:solidFill>
                <a:latin typeface="Aptos"/>
              </a:defRPr>
            </a:pPr>
            <a:r>
              <a:t>• Works directly on sparse, uncentered matrix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32C38"/>
                </a:solidFill>
                <a:latin typeface="Aptos"/>
              </a:defRPr>
            </a:pPr>
            <a:r>
              <a:t>• Compresses customer–product patterns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32C38"/>
                </a:solidFill>
                <a:latin typeface="Aptos"/>
              </a:defRPr>
            </a:pPr>
            <a:r>
              <a:t>• Product factors support cosine similarity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91640"/>
            <a:ext cx="512064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68580" cy="1828800"/>
          </a:xfrm>
          <a:prstGeom prst="rect">
            <a:avLst/>
          </a:prstGeom>
          <a:solidFill>
            <a:srgbClr val="36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810512"/>
            <a:ext cx="4754879" cy="292608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92A46"/>
                </a:solidFill>
                <a:latin typeface="Aptos"/>
              </a:defRPr>
            </a:pPr>
            <a:r>
              <a:t>PCA —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176272"/>
            <a:ext cx="4754879" cy="1271016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32C38"/>
                </a:solidFill>
                <a:latin typeface="Aptos"/>
              </a:defRPr>
            </a:pPr>
            <a:r>
              <a:t>• Fitted with 50 components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32C38"/>
                </a:solidFill>
                <a:latin typeface="Aptos"/>
              </a:defRPr>
            </a:pPr>
            <a:r>
              <a:t>• Cumulative explained variance: 34.8584%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32C38"/>
                </a:solidFill>
                <a:latin typeface="Aptos"/>
              </a:defRPr>
            </a:pPr>
            <a:r>
              <a:t>• Fit time: approximately 0.31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77639"/>
            <a:ext cx="2011680" cy="2743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92A46"/>
                </a:solidFill>
                <a:latin typeface="Aptos"/>
              </a:defRPr>
            </a:pPr>
            <a:r>
              <a:t>Interpretation note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89120"/>
            <a:ext cx="10332720" cy="91440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232C38"/>
                </a:solidFill>
                <a:latin typeface="Aptos"/>
              </a:defRPr>
            </a:pPr>
            <a:r>
              <a:t>PCA explained variance and the SVD energy-based reconstruction-error estimate are different metrics; they should not be compared as if they were the same measure.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92A46"/>
                </a:solidFill>
                <a:latin typeface="Aptos"/>
              </a:defRPr>
            </a:pPr>
            <a:r>
              <a:t>04  |  Component-count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5F6C7D"/>
                </a:solidFill>
                <a:latin typeface="Aptos"/>
              </a:defRPr>
            </a:pPr>
            <a:r>
              <a:t>More retained components reduce the estimated reconstruction error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07592"/>
            <a:ext cx="658368" cy="50292"/>
          </a:xfrm>
          <a:prstGeom prst="rect">
            <a:avLst/>
          </a:prstGeom>
          <a:solidFill>
            <a:srgbClr val="2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64592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F6C7D"/>
                </a:solidFill>
                <a:latin typeface="Aptos"/>
              </a:defRPr>
            </a:pPr>
            <a:r>
              <a:t>CUSTOMERS LIKE YOU  •  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1828800"/>
            <a:ext cx="0" cy="3246120"/>
          </a:xfrm>
          <a:prstGeom prst="line">
            <a:avLst/>
          </a:prstGeom>
          <a:ln w="12700">
            <a:solidFill>
              <a:srgbClr val="5F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97280" y="5074920"/>
            <a:ext cx="6583680" cy="0"/>
          </a:xfrm>
          <a:prstGeom prst="line">
            <a:avLst/>
          </a:prstGeom>
          <a:ln w="12700">
            <a:solidFill>
              <a:srgbClr val="5F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97280" y="5074920"/>
            <a:ext cx="6583680" cy="0"/>
          </a:xfrm>
          <a:prstGeom prst="line">
            <a:avLst/>
          </a:prstGeom>
          <a:ln w="12700">
            <a:solidFill>
              <a:srgbClr val="E0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6072" y="4983480"/>
            <a:ext cx="411480" cy="1828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F6C7D"/>
                </a:solidFill>
                <a:latin typeface="Aptos"/>
              </a:defRPr>
            </a:pPr>
            <a:r>
              <a:t>0.60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3992880"/>
            <a:ext cx="6583680" cy="0"/>
          </a:xfrm>
          <a:prstGeom prst="line">
            <a:avLst/>
          </a:prstGeom>
          <a:ln w="12700">
            <a:solidFill>
              <a:srgbClr val="E0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6072" y="3901440"/>
            <a:ext cx="411480" cy="1828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F6C7D"/>
                </a:solidFill>
                <a:latin typeface="Aptos"/>
              </a:defRPr>
            </a:pPr>
            <a:r>
              <a:t>0.70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0" y="2910839"/>
            <a:ext cx="6583680" cy="0"/>
          </a:xfrm>
          <a:prstGeom prst="line">
            <a:avLst/>
          </a:prstGeom>
          <a:ln w="12700">
            <a:solidFill>
              <a:srgbClr val="E0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6072" y="2819399"/>
            <a:ext cx="411480" cy="1828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F6C7D"/>
                </a:solidFill>
                <a:latin typeface="Aptos"/>
              </a:defRPr>
            </a:pPr>
            <a:r>
              <a:t>0.80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" y="1828799"/>
            <a:ext cx="6583680" cy="0"/>
          </a:xfrm>
          <a:prstGeom prst="line">
            <a:avLst/>
          </a:prstGeom>
          <a:ln w="12700">
            <a:solidFill>
              <a:srgbClr val="E0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76072" y="1737359"/>
            <a:ext cx="411480" cy="1828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F6C7D"/>
                </a:solidFill>
                <a:latin typeface="Aptos"/>
              </a:defRPr>
            </a:pPr>
            <a:r>
              <a:t>0.90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7280" y="2081813"/>
            <a:ext cx="346509" cy="326646"/>
          </a:xfrm>
          <a:prstGeom prst="line">
            <a:avLst/>
          </a:prstGeom>
          <a:ln w="29209">
            <a:solidFill>
              <a:srgbClr val="36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43789" y="2408459"/>
            <a:ext cx="1039528" cy="605218"/>
          </a:xfrm>
          <a:prstGeom prst="line">
            <a:avLst/>
          </a:prstGeom>
          <a:ln w="29209">
            <a:solidFill>
              <a:srgbClr val="36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83317" y="3013677"/>
            <a:ext cx="1732548" cy="666634"/>
          </a:xfrm>
          <a:prstGeom prst="line">
            <a:avLst/>
          </a:prstGeom>
          <a:ln w="29209">
            <a:solidFill>
              <a:srgbClr val="36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15865" y="3680311"/>
            <a:ext cx="3465095" cy="951513"/>
          </a:xfrm>
          <a:prstGeom prst="line">
            <a:avLst/>
          </a:prstGeom>
          <a:ln w="29209">
            <a:solidFill>
              <a:srgbClr val="36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46988" y="2031521"/>
            <a:ext cx="100584" cy="100584"/>
          </a:xfrm>
          <a:prstGeom prst="ellipse">
            <a:avLst/>
          </a:prstGeom>
          <a:solidFill>
            <a:srgbClr val="2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166359"/>
            <a:ext cx="329184" cy="1828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5F6C7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1798349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192A46"/>
                </a:solidFill>
                <a:latin typeface="Aptos"/>
              </a:defRPr>
            </a:pPr>
            <a:r>
              <a:t>0.877</a:t>
            </a:r>
          </a:p>
        </p:txBody>
      </p:sp>
      <p:sp>
        <p:nvSpPr>
          <p:cNvPr id="23" name="Oval 22"/>
          <p:cNvSpPr/>
          <p:nvPr/>
        </p:nvSpPr>
        <p:spPr>
          <a:xfrm>
            <a:off x="1393497" y="2358167"/>
            <a:ext cx="100584" cy="100584"/>
          </a:xfrm>
          <a:prstGeom prst="ellipse">
            <a:avLst/>
          </a:prstGeom>
          <a:solidFill>
            <a:srgbClr val="2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79197" y="5166359"/>
            <a:ext cx="329184" cy="1828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5F6C7D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9469" y="2124995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192A46"/>
                </a:solidFill>
                <a:latin typeface="Aptos"/>
              </a:defRPr>
            </a:pPr>
            <a:r>
              <a:t>0.846</a:t>
            </a:r>
          </a:p>
        </p:txBody>
      </p:sp>
      <p:sp>
        <p:nvSpPr>
          <p:cNvPr id="26" name="Oval 25"/>
          <p:cNvSpPr/>
          <p:nvPr/>
        </p:nvSpPr>
        <p:spPr>
          <a:xfrm>
            <a:off x="2433025" y="2963385"/>
            <a:ext cx="100584" cy="100584"/>
          </a:xfrm>
          <a:prstGeom prst="ellipse">
            <a:avLst/>
          </a:prstGeom>
          <a:solidFill>
            <a:srgbClr val="2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18725" y="5166359"/>
            <a:ext cx="329184" cy="1828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5F6C7D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08997" y="2730213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192A46"/>
                </a:solidFill>
                <a:latin typeface="Aptos"/>
              </a:defRPr>
            </a:pPr>
            <a:r>
              <a:t>0.790</a:t>
            </a:r>
          </a:p>
        </p:txBody>
      </p:sp>
      <p:sp>
        <p:nvSpPr>
          <p:cNvPr id="29" name="Oval 28"/>
          <p:cNvSpPr/>
          <p:nvPr/>
        </p:nvSpPr>
        <p:spPr>
          <a:xfrm>
            <a:off x="4165573" y="3630019"/>
            <a:ext cx="100584" cy="100584"/>
          </a:xfrm>
          <a:prstGeom prst="ellipse">
            <a:avLst/>
          </a:prstGeom>
          <a:solidFill>
            <a:srgbClr val="2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51273" y="5166359"/>
            <a:ext cx="329184" cy="1828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5F6C7D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41545" y="3396847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192A46"/>
                </a:solidFill>
                <a:latin typeface="Aptos"/>
              </a:defRPr>
            </a:pPr>
            <a:r>
              <a:t>0.729</a:t>
            </a:r>
          </a:p>
        </p:txBody>
      </p:sp>
      <p:sp>
        <p:nvSpPr>
          <p:cNvPr id="32" name="Oval 31"/>
          <p:cNvSpPr/>
          <p:nvPr/>
        </p:nvSpPr>
        <p:spPr>
          <a:xfrm>
            <a:off x="7630668" y="4581532"/>
            <a:ext cx="100584" cy="100584"/>
          </a:xfrm>
          <a:prstGeom prst="ellipse">
            <a:avLst/>
          </a:prstGeom>
          <a:solidFill>
            <a:srgbClr val="2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16368" y="5166359"/>
            <a:ext cx="329184" cy="1828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5F6C7D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4348360"/>
            <a:ext cx="548640" cy="1828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192A46"/>
                </a:solidFill>
                <a:latin typeface="Aptos"/>
              </a:defRPr>
            </a:pPr>
            <a:r>
              <a:t>0.641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5486400"/>
            <a:ext cx="2011680" cy="22860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F6C7D"/>
                </a:solidFill>
                <a:latin typeface="Aptos"/>
              </a:defRPr>
            </a:pPr>
            <a:r>
              <a:t>Components (k)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2194560"/>
            <a:ext cx="3246120" cy="1874519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2194560"/>
            <a:ext cx="68580" cy="1874519"/>
          </a:xfrm>
          <a:prstGeom prst="rect">
            <a:avLst/>
          </a:prstGeom>
          <a:solidFill>
            <a:srgbClr val="2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8" y="2313432"/>
            <a:ext cx="2880360" cy="292608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92A46"/>
                </a:solidFill>
                <a:latin typeface="Aptos"/>
              </a:defRPr>
            </a:pPr>
            <a:r>
              <a:t>AT k = 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8" y="2679191"/>
            <a:ext cx="2880360" cy="1316736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32C38"/>
                </a:solidFill>
                <a:latin typeface="Aptos"/>
              </a:defRPr>
            </a:pPr>
            <a:r>
              <a:t>Approx. error: 0.7905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32C38"/>
                </a:solidFill>
                <a:latin typeface="Aptos"/>
              </a:defRPr>
            </a:pPr>
            <a:r>
              <a:t>Estimated factor storage: 3.82 MB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32C38"/>
                </a:solidFill>
                <a:latin typeface="Aptos"/>
              </a:defRPr>
            </a:pPr>
            <a:r>
              <a:t>Fit time: 0.30 seconds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4343400"/>
            <a:ext cx="3017520" cy="77724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F6C7D"/>
                </a:solidFill>
                <a:latin typeface="Aptos"/>
              </a:defRPr>
            </a:pPr>
            <a:r>
              <a:t>Error is estimated from retained singular-value energy, not a full explicit matrix reconstruction.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92A46"/>
                </a:solidFill>
                <a:latin typeface="Aptos"/>
              </a:defRPr>
            </a:pPr>
            <a:r>
              <a:t>05  |  Recommendation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5F6C7D"/>
                </a:solidFill>
                <a:latin typeface="Aptos"/>
              </a:defRPr>
            </a:pPr>
            <a:r>
              <a:t>SVD outperformed the popularity baseline in the historical holdout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07592"/>
            <a:ext cx="658368" cy="50292"/>
          </a:xfrm>
          <a:prstGeom prst="rect">
            <a:avLst/>
          </a:prstGeom>
          <a:solidFill>
            <a:srgbClr val="2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64592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F6C7D"/>
                </a:solidFill>
                <a:latin typeface="Aptos"/>
              </a:defRPr>
            </a:pPr>
            <a:r>
              <a:t>CUSTOMERS LIKE YOU  •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04288"/>
            <a:ext cx="1920240" cy="32004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92A46"/>
                </a:solidFill>
                <a:latin typeface="Aptos"/>
              </a:defRPr>
            </a:pPr>
            <a:r>
              <a:t>SVD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240280"/>
            <a:ext cx="4536925" cy="530352"/>
          </a:xfrm>
          <a:prstGeom prst="roundRect">
            <a:avLst/>
          </a:prstGeom>
          <a:solidFill>
            <a:srgbClr val="2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17285" y="2313432"/>
            <a:ext cx="1005840" cy="2743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92A46"/>
                </a:solidFill>
                <a:latin typeface="Aptos"/>
              </a:defRPr>
            </a:pPr>
            <a:r>
              <a:t>20.33%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30168"/>
            <a:ext cx="1920240" cy="32004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92A46"/>
                </a:solidFill>
                <a:latin typeface="Aptos"/>
              </a:defRPr>
            </a:pPr>
            <a:r>
              <a:t>Best-seller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3566160"/>
            <a:ext cx="3883783" cy="530352"/>
          </a:xfrm>
          <a:prstGeom prst="roundRect">
            <a:avLst/>
          </a:prstGeom>
          <a:solidFill>
            <a:srgbClr val="36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4143" y="3639312"/>
            <a:ext cx="1005840" cy="2743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92A46"/>
                </a:solidFill>
                <a:latin typeface="Aptos"/>
              </a:defRPr>
            </a:pPr>
            <a:r>
              <a:t>17.41%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965960"/>
            <a:ext cx="251460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23960" y="1965960"/>
            <a:ext cx="68580" cy="1097280"/>
          </a:xfrm>
          <a:prstGeom prst="rect">
            <a:avLst/>
          </a:prstGeom>
          <a:solidFill>
            <a:srgbClr val="E6A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5128" y="2084831"/>
            <a:ext cx="2148840" cy="292608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92A46"/>
                </a:solidFill>
                <a:latin typeface="Aptos"/>
              </a:defRPr>
            </a:pPr>
            <a:r>
              <a:t>+2.93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5128" y="2450591"/>
            <a:ext cx="2148840" cy="539496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2C38"/>
                </a:solidFill>
                <a:latin typeface="Aptos"/>
              </a:defRPr>
            </a:pPr>
            <a:r>
              <a:t>absolute Hit Rate@10 lift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3337560"/>
            <a:ext cx="251460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23960" y="3337560"/>
            <a:ext cx="68580" cy="1097280"/>
          </a:xfrm>
          <a:prstGeom prst="rect">
            <a:avLst/>
          </a:prstGeom>
          <a:solidFill>
            <a:srgbClr val="2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5128" y="3456432"/>
            <a:ext cx="2148840" cy="292608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92A46"/>
                </a:solidFill>
                <a:latin typeface="Aptos"/>
              </a:defRPr>
            </a:pPr>
            <a:r>
              <a:t>+16.8%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3822191"/>
            <a:ext cx="2148840" cy="539496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2C38"/>
                </a:solidFill>
                <a:latin typeface="Aptos"/>
              </a:defRPr>
            </a:pPr>
            <a:r>
              <a:t>relative improvement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83480"/>
            <a:ext cx="10607040" cy="3657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5F6C7D"/>
                </a:solidFill>
                <a:latin typeface="Aptos"/>
              </a:defRPr>
            </a:pPr>
            <a:r>
              <a:t>1,913 eligible customers  |  Scoring time: 28.97 seconds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86400"/>
            <a:ext cx="1069848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F6C7D"/>
                </a:solidFill>
                <a:latin typeface="Aptos"/>
              </a:defRPr>
            </a:pPr>
            <a:r>
              <a:t>Hit Rate@10 = share of customers with at least one eligible held-out product in their top 10 recommendations.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92A46"/>
                </a:solidFill>
                <a:latin typeface="Aptos"/>
              </a:defRPr>
            </a:pPr>
            <a:r>
              <a:t>06  |  Customer segments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5F6C7D"/>
                </a:solidFill>
                <a:latin typeface="Aptos"/>
              </a:defRPr>
            </a:pPr>
            <a:r>
              <a:t>Four KMeans groups in a two-component SVD projection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07592"/>
            <a:ext cx="658368" cy="50292"/>
          </a:xfrm>
          <a:prstGeom prst="rect">
            <a:avLst/>
          </a:prstGeom>
          <a:solidFill>
            <a:srgbClr val="2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64592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F6C7D"/>
                </a:solidFill>
                <a:latin typeface="Aptos"/>
              </a:defRPr>
            </a:pPr>
            <a:r>
              <a:t>CUSTOMERS LIKE YOU  •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074920" cy="128016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8580" cy="1280160"/>
          </a:xfrm>
          <a:prstGeom prst="rect">
            <a:avLst/>
          </a:prstGeom>
          <a:solidFill>
            <a:srgbClr val="26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0512"/>
            <a:ext cx="4709159" cy="292608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92A46"/>
                </a:solidFill>
                <a:latin typeface="Aptos"/>
              </a:defRPr>
            </a:pPr>
            <a:r>
              <a:t>Segment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76272"/>
            <a:ext cx="4709159" cy="722375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2C38"/>
                </a:solidFill>
                <a:latin typeface="Aptos"/>
              </a:defRPr>
            </a:pPr>
            <a:r>
              <a:t>1,114 customers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32C38"/>
                </a:solidFill>
                <a:latin typeface="Aptos"/>
              </a:defRPr>
            </a:pPr>
            <a:r>
              <a:t>Leading products: 84077, 85123A, 85099B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1691640"/>
            <a:ext cx="5074920" cy="128016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79" y="1691640"/>
            <a:ext cx="68580" cy="1280160"/>
          </a:xfrm>
          <a:prstGeom prst="rect">
            <a:avLst/>
          </a:prstGeom>
          <a:solidFill>
            <a:srgbClr val="36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7" y="1810512"/>
            <a:ext cx="4709159" cy="292608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92A46"/>
                </a:solidFill>
                <a:latin typeface="Aptos"/>
              </a:defRPr>
            </a:pPr>
            <a:r>
              <a:t>Segment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7" y="2176272"/>
            <a:ext cx="4709159" cy="722375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2C38"/>
                </a:solidFill>
                <a:latin typeface="Aptos"/>
              </a:defRPr>
            </a:pPr>
            <a:r>
              <a:t>4,005 customers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32C38"/>
                </a:solidFill>
                <a:latin typeface="Aptos"/>
              </a:defRPr>
            </a:pPr>
            <a:r>
              <a:t>Largest group; products include 23366, 37410, 16014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337560"/>
            <a:ext cx="5074920" cy="128016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37560"/>
            <a:ext cx="68580" cy="1280160"/>
          </a:xfrm>
          <a:prstGeom prst="rect">
            <a:avLst/>
          </a:prstGeom>
          <a:solidFill>
            <a:srgbClr val="E6A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456432"/>
            <a:ext cx="4709159" cy="292608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92A46"/>
                </a:solidFill>
                <a:latin typeface="Aptos"/>
              </a:defRPr>
            </a:pPr>
            <a:r>
              <a:t>Segment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822192"/>
            <a:ext cx="4709159" cy="722375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2C38"/>
                </a:solidFill>
                <a:latin typeface="Aptos"/>
              </a:defRPr>
            </a:pPr>
            <a:r>
              <a:t>353 customers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32C38"/>
                </a:solidFill>
                <a:latin typeface="Aptos"/>
              </a:defRPr>
            </a:pPr>
            <a:r>
              <a:t>Products include 21212, 85099B, 84077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9" y="3337560"/>
            <a:ext cx="5074920" cy="1280160"/>
          </a:xfrm>
          <a:prstGeom prst="roundRect">
            <a:avLst/>
          </a:prstGeom>
          <a:solidFill>
            <a:srgbClr val="F5F7FA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79" y="3337560"/>
            <a:ext cx="68580" cy="1280160"/>
          </a:xfrm>
          <a:prstGeom prst="rect">
            <a:avLst/>
          </a:prstGeom>
          <a:solidFill>
            <a:srgbClr val="BA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7" y="3456432"/>
            <a:ext cx="4709159" cy="292608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92A46"/>
                </a:solidFill>
                <a:latin typeface="Aptos"/>
              </a:defRPr>
            </a:pPr>
            <a:r>
              <a:t>Segment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7" y="3822192"/>
            <a:ext cx="4709159" cy="722375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2C38"/>
                </a:solidFill>
                <a:latin typeface="Aptos"/>
              </a:defRPr>
            </a:pPr>
            <a:r>
              <a:t>12 customers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32C38"/>
                </a:solidFill>
                <a:latin typeface="Aptos"/>
              </a:defRPr>
            </a:pPr>
            <a:r>
              <a:t>Very small group; interpret cautiously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03520"/>
            <a:ext cx="10515600" cy="54864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F6C7D"/>
                </a:solidFill>
                <a:latin typeface="Aptos"/>
              </a:defRPr>
            </a:pPr>
            <a:r>
              <a:t>Customer segment figure: customer_segments.png. Country summaries are available in the notebook. No customer IDs are shown here.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074920"/>
            <a:ext cx="108356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1023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92A46"/>
                </a:solidFill>
                <a:latin typeface="Aptos"/>
              </a:defRPr>
            </a:pPr>
            <a:r>
              <a:t>ACTUAL SVD CUSTOMER PROJECTION</a:t>
            </a:r>
          </a:p>
        </p:txBody>
      </p:sp>
      <p:pic>
        <p:nvPicPr>
          <p:cNvPr id="25" name="Picture 24" descr="image(20261013-190805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39" y="5056632"/>
            <a:ext cx="4846320" cy="10789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A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4114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8BD6CF"/>
                </a:solidFill>
                <a:latin typeface="Aptos"/>
              </a:defRPr>
            </a:pPr>
            <a:r>
              <a:t>07  |  TAKEAWAYS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12801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Promising offline signal.</a:t>
            </a:r>
          </a:p>
          <a:p>
            <a:pPr algn="l">
              <a:spcAft>
                <a:spcPts val="4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Not yet a proven business outcome.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926080"/>
            <a:ext cx="3429000" cy="1600200"/>
          </a:xfrm>
          <a:prstGeom prst="roundRect">
            <a:avLst/>
          </a:prstGeom>
          <a:solidFill>
            <a:srgbClr val="263956"/>
          </a:solidFill>
          <a:ln>
            <a:solidFill>
              <a:srgbClr val="425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3136392"/>
            <a:ext cx="3108960" cy="32004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1.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3593592"/>
            <a:ext cx="3108960" cy="7315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DAE4F0"/>
                </a:solidFill>
                <a:latin typeface="Aptos"/>
              </a:defRPr>
            </a:pPr>
            <a:r>
              <a:t>Compare SVD recommendations with the best-seller baseline.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926080"/>
            <a:ext cx="3429000" cy="1600200"/>
          </a:xfrm>
          <a:prstGeom prst="roundRect">
            <a:avLst/>
          </a:prstGeom>
          <a:solidFill>
            <a:srgbClr val="263956"/>
          </a:solidFill>
          <a:ln>
            <a:solidFill>
              <a:srgbClr val="425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36592" y="3136392"/>
            <a:ext cx="3108960" cy="32004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2. Measure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3593592"/>
            <a:ext cx="3108960" cy="7315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DAE4F0"/>
                </a:solidFill>
                <a:latin typeface="Aptos"/>
              </a:defRPr>
            </a:pPr>
            <a:r>
              <a:t>Track clicks, conversion, revenue per session, and product coverage.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2926080"/>
            <a:ext cx="3429000" cy="1600200"/>
          </a:xfrm>
          <a:prstGeom prst="roundRect">
            <a:avLst/>
          </a:prstGeom>
          <a:solidFill>
            <a:srgbClr val="263956"/>
          </a:solidFill>
          <a:ln>
            <a:solidFill>
              <a:srgbClr val="425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2" y="3136392"/>
            <a:ext cx="3108960" cy="32004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3.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3593592"/>
            <a:ext cx="3108960" cy="7315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DAE4F0"/>
                </a:solidFill>
                <a:latin typeface="Aptos"/>
              </a:defRPr>
            </a:pPr>
            <a:r>
              <a:t>Reassess the small segment and refresh the model as behavior changes.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12080"/>
            <a:ext cx="1069848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DAE4F0"/>
                </a:solidFill>
                <a:latin typeface="Aptos"/>
              </a:defRPr>
            </a:pPr>
            <a:r>
              <a:t>Validate commercial impact in a controlled pilot before broad deployment.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10972800" cy="164592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B6C7DE"/>
                </a:solidFill>
                <a:latin typeface="Aptos"/>
              </a:defRPr>
            </a:pPr>
            <a:r>
              <a:t>CUSTOMERS LIKE YOU  • 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Customers Like You: Product Recommendations and Customer Segmentation</dc:title>
  <dc:subject>Online Retail II, Truncated SVD, PCA, recommendations, and customer segmentation</dc:subject>
  <dc:creator>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